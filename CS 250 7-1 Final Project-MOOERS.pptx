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256" r:id="rId5"/>
    <p:sldId id="257" r:id="rId6"/>
    <p:sldId id="278" r:id="rId7"/>
    <p:sldId id="280" r:id="rId8"/>
    <p:sldId id="285" r:id="rId9"/>
    <p:sldId id="271" r:id="rId10"/>
    <p:sldId id="288" r:id="rId11"/>
    <p:sldId id="287" r:id="rId12"/>
    <p:sldId id="28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4727D8-0A5D-4F96-95BB-131427A4FFFF}" v="16" dt="2025-12-11T06:42:52.4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76951" autoAdjust="0"/>
  </p:normalViewPr>
  <p:slideViewPr>
    <p:cSldViewPr snapToGrid="0">
      <p:cViewPr varScale="1">
        <p:scale>
          <a:sx n="79" d="100"/>
          <a:sy n="79" d="100"/>
        </p:scale>
        <p:origin x="378" y="270"/>
      </p:cViewPr>
      <p:guideLst/>
    </p:cSldViewPr>
  </p:slideViewPr>
  <p:outlineViewPr>
    <p:cViewPr>
      <p:scale>
        <a:sx n="33" d="100"/>
        <a:sy n="33" d="100"/>
      </p:scale>
      <p:origin x="0" y="-2880"/>
    </p:cViewPr>
  </p:outlineViewPr>
  <p:notesTextViewPr>
    <p:cViewPr>
      <p:scale>
        <a:sx n="1" d="1"/>
        <a:sy n="1" d="1"/>
      </p:scale>
      <p:origin x="0" y="-489"/>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Mooers" userId="eefbd7e9b37e2a52" providerId="LiveId" clId="{088CD8A6-2BFE-4A5E-8F28-7B69E66E00C2}"/>
    <pc:docChg chg="undo custSel modSld">
      <pc:chgData name="Christopher Mooers" userId="eefbd7e9b37e2a52" providerId="LiveId" clId="{088CD8A6-2BFE-4A5E-8F28-7B69E66E00C2}" dt="2025-12-11T06:45:13.504" v="757" actId="20577"/>
      <pc:docMkLst>
        <pc:docMk/>
      </pc:docMkLst>
      <pc:sldChg chg="modNotesTx">
        <pc:chgData name="Christopher Mooers" userId="eefbd7e9b37e2a52" providerId="LiveId" clId="{088CD8A6-2BFE-4A5E-8F28-7B69E66E00C2}" dt="2025-12-11T06:14:26.522" v="8" actId="20577"/>
        <pc:sldMkLst>
          <pc:docMk/>
          <pc:sldMk cId="2586058810" sldId="256"/>
        </pc:sldMkLst>
      </pc:sldChg>
      <pc:sldChg chg="addSp delSp modSp mod modNotesTx">
        <pc:chgData name="Christopher Mooers" userId="eefbd7e9b37e2a52" providerId="LiveId" clId="{088CD8A6-2BFE-4A5E-8F28-7B69E66E00C2}" dt="2025-12-11T06:22:08.098" v="176"/>
        <pc:sldMkLst>
          <pc:docMk/>
          <pc:sldMk cId="1713219598" sldId="257"/>
        </pc:sldMkLst>
        <pc:spChg chg="mod">
          <ac:chgData name="Christopher Mooers" userId="eefbd7e9b37e2a52" providerId="LiveId" clId="{088CD8A6-2BFE-4A5E-8F28-7B69E66E00C2}" dt="2025-12-11T06:18:09.554" v="92" actId="1076"/>
          <ac:spMkLst>
            <pc:docMk/>
            <pc:sldMk cId="1713219598" sldId="257"/>
            <ac:spMk id="2" creationId="{1BEF5859-10C9-4588-9727-B9362E26C29D}"/>
          </ac:spMkLst>
        </pc:spChg>
        <pc:spChg chg="add mod">
          <ac:chgData name="Christopher Mooers" userId="eefbd7e9b37e2a52" providerId="LiveId" clId="{088CD8A6-2BFE-4A5E-8F28-7B69E66E00C2}" dt="2025-12-11T06:16:03.276" v="20"/>
          <ac:spMkLst>
            <pc:docMk/>
            <pc:sldMk cId="1713219598" sldId="257"/>
            <ac:spMk id="3" creationId="{469EC48B-C235-C16C-A129-AA05D770FDB3}"/>
          </ac:spMkLst>
        </pc:spChg>
        <pc:spChg chg="del mod">
          <ac:chgData name="Christopher Mooers" userId="eefbd7e9b37e2a52" providerId="LiveId" clId="{088CD8A6-2BFE-4A5E-8F28-7B69E66E00C2}" dt="2025-12-11T06:22:08.098" v="176"/>
          <ac:spMkLst>
            <pc:docMk/>
            <pc:sldMk cId="1713219598" sldId="257"/>
            <ac:spMk id="4" creationId="{BA8DF4FB-46BE-CBAB-DDD5-E7017E745EC6}"/>
          </ac:spMkLst>
        </pc:spChg>
        <pc:spChg chg="mod">
          <ac:chgData name="Christopher Mooers" userId="eefbd7e9b37e2a52" providerId="LiveId" clId="{088CD8A6-2BFE-4A5E-8F28-7B69E66E00C2}" dt="2025-12-11T06:19:14.018" v="158" actId="20577"/>
          <ac:spMkLst>
            <pc:docMk/>
            <pc:sldMk cId="1713219598" sldId="257"/>
            <ac:spMk id="6" creationId="{52B786E0-6F73-0088-2D12-B02014ADDB75}"/>
          </ac:spMkLst>
        </pc:spChg>
      </pc:sldChg>
      <pc:sldChg chg="modNotesTx">
        <pc:chgData name="Christopher Mooers" userId="eefbd7e9b37e2a52" providerId="LiveId" clId="{088CD8A6-2BFE-4A5E-8F28-7B69E66E00C2}" dt="2025-12-11T06:36:32.971" v="390" actId="20577"/>
        <pc:sldMkLst>
          <pc:docMk/>
          <pc:sldMk cId="1969787568" sldId="271"/>
        </pc:sldMkLst>
      </pc:sldChg>
      <pc:sldChg chg="modNotesTx">
        <pc:chgData name="Christopher Mooers" userId="eefbd7e9b37e2a52" providerId="LiveId" clId="{088CD8A6-2BFE-4A5E-8F28-7B69E66E00C2}" dt="2025-12-11T06:26:12.631" v="305" actId="20577"/>
        <pc:sldMkLst>
          <pc:docMk/>
          <pc:sldMk cId="608796113" sldId="278"/>
        </pc:sldMkLst>
      </pc:sldChg>
      <pc:sldChg chg="modNotesTx">
        <pc:chgData name="Christopher Mooers" userId="eefbd7e9b37e2a52" providerId="LiveId" clId="{088CD8A6-2BFE-4A5E-8F28-7B69E66E00C2}" dt="2025-12-11T06:28:32.255" v="324" actId="20577"/>
        <pc:sldMkLst>
          <pc:docMk/>
          <pc:sldMk cId="334696707" sldId="280"/>
        </pc:sldMkLst>
      </pc:sldChg>
      <pc:sldChg chg="modSp mod modNotesTx">
        <pc:chgData name="Christopher Mooers" userId="eefbd7e9b37e2a52" providerId="LiveId" clId="{088CD8A6-2BFE-4A5E-8F28-7B69E66E00C2}" dt="2025-12-11T06:32:35.692" v="365" actId="20577"/>
        <pc:sldMkLst>
          <pc:docMk/>
          <pc:sldMk cId="2791821786" sldId="285"/>
        </pc:sldMkLst>
        <pc:graphicFrameChg chg="modGraphic">
          <ac:chgData name="Christopher Mooers" userId="eefbd7e9b37e2a52" providerId="LiveId" clId="{088CD8A6-2BFE-4A5E-8F28-7B69E66E00C2}" dt="2025-12-11T06:30:46.563" v="344" actId="20577"/>
          <ac:graphicFrameMkLst>
            <pc:docMk/>
            <pc:sldMk cId="2791821786" sldId="285"/>
            <ac:graphicFrameMk id="13" creationId="{4A94C7BE-6E60-66F0-EFD4-2F452B0D743A}"/>
          </ac:graphicFrameMkLst>
        </pc:graphicFrameChg>
      </pc:sldChg>
      <pc:sldChg chg="modSp mod modNotesTx">
        <pc:chgData name="Christopher Mooers" userId="eefbd7e9b37e2a52" providerId="LiveId" clId="{088CD8A6-2BFE-4A5E-8F28-7B69E66E00C2}" dt="2025-12-11T06:45:13.504" v="757" actId="20577"/>
        <pc:sldMkLst>
          <pc:docMk/>
          <pc:sldMk cId="2830554802" sldId="287"/>
        </pc:sldMkLst>
        <pc:spChg chg="mod">
          <ac:chgData name="Christopher Mooers" userId="eefbd7e9b37e2a52" providerId="LiveId" clId="{088CD8A6-2BFE-4A5E-8F28-7B69E66E00C2}" dt="2025-12-11T06:41:47.324" v="654" actId="1076"/>
          <ac:spMkLst>
            <pc:docMk/>
            <pc:sldMk cId="2830554802" sldId="287"/>
            <ac:spMk id="2" creationId="{B00FF9B4-AF3C-07CE-3586-56331CB14904}"/>
          </ac:spMkLst>
        </pc:spChg>
        <pc:spChg chg="mod">
          <ac:chgData name="Christopher Mooers" userId="eefbd7e9b37e2a52" providerId="LiveId" clId="{088CD8A6-2BFE-4A5E-8F28-7B69E66E00C2}" dt="2025-12-11T06:42:23.395" v="665" actId="255"/>
          <ac:spMkLst>
            <pc:docMk/>
            <pc:sldMk cId="2830554802" sldId="287"/>
            <ac:spMk id="4" creationId="{35DF25C9-3FF6-BF8D-89F5-CCB13DF12281}"/>
          </ac:spMkLst>
        </pc:spChg>
      </pc:sldChg>
      <pc:sldChg chg="modNotesTx">
        <pc:chgData name="Christopher Mooers" userId="eefbd7e9b37e2a52" providerId="LiveId" clId="{088CD8A6-2BFE-4A5E-8F28-7B69E66E00C2}" dt="2025-12-11T06:39:02.345" v="448" actId="20577"/>
        <pc:sldMkLst>
          <pc:docMk/>
          <pc:sldMk cId="3628423633" sldId="2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12/11/2025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 you for taking the time to review this presentation with me. My name is Christopher Mooers, and today I’ll be walking through key elements of the Scrum-Agile approach and explaining why adopting Agile is the most effective choice for the SNHU Travel project.</a:t>
            </a:r>
          </a:p>
          <a:p>
            <a:endParaRPr lang="en-US" dirty="0"/>
          </a:p>
          <a:p>
            <a:r>
              <a:rPr lang="en-US" dirty="0"/>
              <a:t>This presentation will cover the major Scrum team roles, the Agile phases of the software development life cycle, and how Agile compares to the traditional Waterfall model. My goal is to show how Agile supports flexibility, faster feedback, better communication, and a more efficient development process. These advantages ultimately make Agile the stronger option for delivering a high-quality booking tool that meets user needs and business goals.</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into the details, here’s a quick overview of what I’ll be covering today.</a:t>
            </a:r>
          </a:p>
          <a:p>
            <a:endParaRPr lang="en-US" dirty="0"/>
          </a:p>
          <a:p>
            <a:r>
              <a:rPr lang="en-US" dirty="0"/>
              <a:t>First, we’ll look at why communication is such a critical part of Agile and how it directly impacts project success. Then we’ll break down what Scrum-Agile actually is and how it differs from traditional development methods.</a:t>
            </a:r>
          </a:p>
          <a:p>
            <a:endParaRPr lang="en-US" dirty="0"/>
          </a:p>
          <a:p>
            <a:r>
              <a:rPr lang="en-US" dirty="0"/>
              <a:t>From there, I’ll walk through the key Scrum roles, the Scrum Master, Product Owner, Developers, and Testers, and explain why each one is essential for a well-functioning team.</a:t>
            </a:r>
          </a:p>
          <a:p>
            <a:endParaRPr lang="en-US" dirty="0"/>
          </a:p>
          <a:p>
            <a:r>
              <a:rPr lang="en-US" dirty="0"/>
              <a:t>Next, I’ll cover the major phases of the Agile software development life cycle and show how work moves forward in an iterative, flexible way.</a:t>
            </a:r>
          </a:p>
          <a:p>
            <a:endParaRPr lang="en-US" dirty="0"/>
          </a:p>
          <a:p>
            <a:r>
              <a:rPr lang="en-US" dirty="0"/>
              <a:t>We’ll then compare Agile to the Waterfall model to highlight why Agile is the stronger fit for the SNHU Travel project.</a:t>
            </a:r>
          </a:p>
          <a:p>
            <a:endParaRPr lang="en-US" dirty="0"/>
          </a:p>
          <a:p>
            <a:r>
              <a:rPr lang="en-US" dirty="0"/>
              <a:t>Finally, I’ll share the major tools and lessons learned throughout the project that demonstrate how Agile supports better communication, faster adaptation, and stronger team alignment.</a:t>
            </a:r>
          </a:p>
          <a:p>
            <a:endParaRPr lang="en-US" dirty="0"/>
          </a:p>
          <a:p>
            <a:r>
              <a:rPr lang="en-US" dirty="0"/>
              <a:t>By the end, you’ll see why Agile provides clear advantages for </a:t>
            </a:r>
            <a:r>
              <a:rPr lang="en-US" dirty="0" err="1"/>
              <a:t>ChadaTech</a:t>
            </a:r>
            <a:r>
              <a:rPr lang="en-US" dirty="0"/>
              <a:t> and SNHU Travel as we continue developing new client-facing features.</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reasons Agile works well is it keeps communication flowing constantly. Traditional approaches often rely on long phases of isolated work, which can easily lead to misunderstandings or missed requirements. Agile is the opposite, it’s designed to surface issues early before they grow into real problems.</a:t>
            </a:r>
          </a:p>
          <a:p>
            <a:endParaRPr lang="en-US" dirty="0"/>
          </a:p>
          <a:p>
            <a:r>
              <a:rPr lang="en-US" dirty="0"/>
              <a:t>Because Agile emphasizes transparency, everyone on the team can see what’s being worked on, what’s blocked, and what still needs clarification. This kind of shared visibility is extremely important for projects like the SNHU Travel tool, where requirements can shift based on client feedback.</a:t>
            </a:r>
          </a:p>
          <a:p>
            <a:endParaRPr lang="en-US" dirty="0"/>
          </a:p>
          <a:p>
            <a:r>
              <a:rPr lang="en-US" dirty="0"/>
              <a:t>Another major strength of Agile communication is the speed of feedback. Instead of waiting until the end of a long development cycle, the team can quickly confirm whether our trajectory is aligned with the client’s needs. This reduces rework, keeps the project moving, and helps the team stay aligned around the same goals.</a:t>
            </a:r>
          </a:p>
          <a:p>
            <a:r>
              <a:rPr lang="en-US" dirty="0"/>
              <a:t>Overall, Agile creates an environment where collaboration isn’t just helpful, it’s built into the process. This makes the team more adaptable, more connected, and able to better deliver a product that actually meets the client’s needs.</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Scrum-Agile is a modern approach to software development that focuses on delivering value quickly and adapting to change as it happens. Instead of planning out every detail up front and hoping there are no changes, Agile breaks the work into small, manageable increments called sprints. Each sprint delivers a usable piece of the product, which means the team can gather feedback early and refine the direction as needed.</a:t>
            </a:r>
          </a:p>
          <a:p>
            <a:endParaRPr lang="en-US" dirty="0"/>
          </a:p>
          <a:p>
            <a:r>
              <a:rPr lang="en-US" dirty="0"/>
              <a:t>Agile also emphasizes collaboration. The team communicates frequently, shares progress openly, and works together across roles. This helps prevent misunderstandings and creates a shared sense of ownership over the product. For a project like SNHU Travel, where client expectations can shift, Scrum provides the flexibility needed to adjust priorities without derailing the entire project.</a:t>
            </a:r>
          </a:p>
          <a:p>
            <a:endParaRPr lang="en-US" dirty="0"/>
          </a:p>
          <a:p>
            <a:r>
              <a:rPr lang="en-US" dirty="0"/>
              <a:t>Another key part of Scrum is its focus on continuous improvement. After each sprint, the team reflects on what went well and what needs adjustment. This cycle helps the team get better over time and ensures that future iterations run more smoothly.</a:t>
            </a:r>
          </a:p>
          <a:p>
            <a:endParaRPr lang="en-US" dirty="0"/>
          </a:p>
          <a:p>
            <a:r>
              <a:rPr lang="en-US" dirty="0"/>
              <a:t>Overall, Scrum-Agile enables faster delivery, better communication, and stronger alignment with client goals, making it a powerful framework for modern software development.</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Scrum, every role contributes to the project’s success in a different way, and understanding these responsibilities helps explain why Agile is so effective.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Scrum Master supports the team by facilitating communication, guiding Scrum events, and removing obstacles that slow progress. They help ensure that Agile principles are followed and that the team stays focused and productive. During changes in direction, the Scrum Master plays a major role in helping the team adapt smoothly.</a:t>
            </a:r>
          </a:p>
          <a:p>
            <a:endParaRPr lang="en-US" dirty="0"/>
          </a:p>
          <a:p>
            <a:r>
              <a:rPr lang="en-US" b="0" dirty="0"/>
              <a:t>The Product Owner represents the client and defines what features bring the most value. They maintain the Product Backlog and help the team understand exactly what needs to be built and why. This role becomes apparently important when priorities shift, because the Product Owner keeps the team aligned with business goals.</a:t>
            </a:r>
          </a:p>
          <a:p>
            <a:endParaRPr lang="en-US" b="0" dirty="0"/>
          </a:p>
          <a:p>
            <a:r>
              <a:rPr lang="en-US" b="0" dirty="0"/>
              <a:t>The Developers are responsible for creating functional increments of the product during each sprint. They collaborate closely with the Product Owner and Tester to make sure the features being built meet expectations. Developers also provide estimates and share technical insights that influence sprint planning.</a:t>
            </a:r>
          </a:p>
          <a:p>
            <a:endParaRPr lang="en-US" b="0" dirty="0"/>
          </a:p>
          <a:p>
            <a:r>
              <a:rPr lang="en-US" b="0" dirty="0"/>
              <a:t>The Tester ensures that each </a:t>
            </a:r>
            <a:r>
              <a:rPr lang="en-US" dirty="0"/>
              <a:t>feature works as intended and meets the acceptance criteria. Testers ask clarifying questions, identify defects early, and help maintain the quality of each increment. </a:t>
            </a:r>
          </a:p>
          <a:p>
            <a:endParaRPr lang="en-US" dirty="0"/>
          </a:p>
          <a:p>
            <a:r>
              <a:rPr lang="en-US" dirty="0"/>
              <a:t>Together, these roles create a balanced team that communicates often, adapts quickly, and works collaboratively toward a shared goal. This structure is one of the main reasons Agile supports faster, more reliable product development.</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Agile, work still follows the traditional phases of the Software Development Life Cycle, but the key difference is that these phases repeat in small cycles instead of happening once at the start or end of a project.</a:t>
            </a:r>
          </a:p>
          <a:p>
            <a:endParaRPr lang="en-US" dirty="0"/>
          </a:p>
          <a:p>
            <a:r>
              <a:rPr lang="en-US" dirty="0"/>
              <a:t>The process </a:t>
            </a:r>
            <a:r>
              <a:rPr lang="en-US" b="0" dirty="0"/>
              <a:t>begins with planning, which happens through creating and refining user stories. Unlike a long requirements document, user stories focus on what the user needs and breaks down the work into clearly defined tasks. This makes planning more flexible and easier to adjust when new information comes in.</a:t>
            </a:r>
          </a:p>
          <a:p>
            <a:endParaRPr lang="en-US" b="0" dirty="0"/>
          </a:p>
          <a:p>
            <a:r>
              <a:rPr lang="en-US" b="0" dirty="0"/>
              <a:t>Next is development, which happens in short, time-boxed sprints. Each sprint produces a small, working increment of the product. This allows the team to make steady progress while remaining adaptable.</a:t>
            </a:r>
          </a:p>
          <a:p>
            <a:endParaRPr lang="en-US" b="0" dirty="0"/>
          </a:p>
          <a:p>
            <a:r>
              <a:rPr lang="en-US" b="0" dirty="0"/>
              <a:t>Testing in Agile is continuous, not something that happens at the very end of the project. Testers validate features throughout the sprint, ask clarifying questions, and confirm that acceptance criteria are met. This early and frequent testing helps avoid major defects later in the process.</a:t>
            </a:r>
          </a:p>
          <a:p>
            <a:endParaRPr lang="en-US" b="0" dirty="0"/>
          </a:p>
          <a:p>
            <a:r>
              <a:rPr lang="en-US" b="0" dirty="0"/>
              <a:t>Finally, Agile teams hold reviews and retrospectives at the end of each sprint. Reviews allow the team to demonstrate completed work to stakeholders, and retrospectives create space to reflect on what went well and what could improve in the next sprint.</a:t>
            </a:r>
          </a:p>
          <a:p>
            <a:endParaRPr lang="en-US" b="0" dirty="0"/>
          </a:p>
          <a:p>
            <a:r>
              <a:rPr lang="en-US" b="0" dirty="0"/>
              <a:t>By cycling through these phases repeatedly, Agile </a:t>
            </a:r>
            <a:r>
              <a:rPr lang="en-US" dirty="0"/>
              <a:t>reduces risk, improves communication, and ensures that the product evolves in a way that matches both business goals and user needs. It also allows teams to respond quickly to changes.</a:t>
            </a:r>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702683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comparing Waterfall and Agile, the biggest difference is how each approach handles change. The Waterfall model follows a strict, linear path where each phase must be completed before moving to the next. This works for projects with stable, unchanging requirements, but it becomes a major limitation when expectations evolve. Waterfall also delays testing and stakeholder feedback until very late in the process, which increases the risk of rework or delivering a product that doesn’t fully meet user needs.</a:t>
            </a:r>
          </a:p>
          <a:p>
            <a:endParaRPr lang="en-US" dirty="0"/>
          </a:p>
          <a:p>
            <a:r>
              <a:rPr lang="en-US" dirty="0"/>
              <a:t>Agile, on the other hand, is iterative and highly adaptable. Work is completed in short sprints, and each sprint produces a functional piece of the product. This allows stakeholders to review progress early, provide feedback, and help the team adjust direction as needed. Agile also integrates testing throughout the process, reducing risk and ensuring quality at every step.</a:t>
            </a:r>
          </a:p>
          <a:p>
            <a:endParaRPr lang="en-US" dirty="0"/>
          </a:p>
          <a:p>
            <a:r>
              <a:rPr lang="en-US" dirty="0"/>
              <a:t>Agile gives the organization the flexibility to respond to market trends, customer feedback, and evolving business needs. In turn, making it a stronger, more resilient development strategy for the SNHU Travel platform.</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314540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advantages of Agile is the use of tools that increase transparency and keep the entire team aligned. Platforms like Jira or Azure Boards give everyone a real-time view of the backlog, sprint progress, and any blockers that may need attention. This level of visibility helps prevent delays and reduces the chance of miscommunication between team members.</a:t>
            </a:r>
          </a:p>
          <a:p>
            <a:endParaRPr lang="en-US" dirty="0"/>
          </a:p>
          <a:p>
            <a:r>
              <a:rPr lang="en-US" dirty="0"/>
              <a:t>Agile tools also make it easier to identify issues early. Because work is completed and reviewed in short increments, the team can spot problems quickly instead of discovering them at the end of the project. This saves time, lowers risk, and improves the overall quality of the product.</a:t>
            </a:r>
          </a:p>
          <a:p>
            <a:endParaRPr lang="en-US" dirty="0"/>
          </a:p>
          <a:p>
            <a:r>
              <a:rPr lang="en-US" dirty="0"/>
              <a:t>Another key part of Agile is the retrospective process. After every sprint, the team reflects on what went well and what needs improvement. This constant cycle of evaluation helps the team grow stronger over time. Even small adjustments, such as improving communication or refining acceptance criteria, can have a big impact on overall efficiency.</a:t>
            </a:r>
          </a:p>
          <a:p>
            <a:endParaRPr lang="en-US" dirty="0"/>
          </a:p>
          <a:p>
            <a:r>
              <a:rPr lang="en-US" dirty="0"/>
              <a:t>The lessons we learned throughout </a:t>
            </a:r>
            <a:r>
              <a:rPr lang="en-US"/>
              <a:t>this term show </a:t>
            </a:r>
            <a:r>
              <a:rPr lang="en-US" dirty="0"/>
              <a:t>that Agile supports flexibility, communication, and consistent progress. These strengths make Agile a reliable approach for delivering a high-quality product, especially in environments where client needs and priorities can shift. For leadership, this means fewer surprises, clearer expectations, and a more predictable development process.</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4014141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5010035" y="3871141"/>
            <a:ext cx="7134511" cy="2708327"/>
          </a:xfrm>
        </p:spPr>
        <p:txBody>
          <a:bodyPr anchor="ctr"/>
          <a:lstStyle/>
          <a:p>
            <a:pPr algn="ctr"/>
            <a:r>
              <a:rPr lang="en-US" b="1" dirty="0"/>
              <a:t>Scrum-Agile Retrospective &amp; Lessons Learned</a:t>
            </a:r>
            <a:br>
              <a:rPr lang="en-US" dirty="0"/>
            </a:br>
            <a:r>
              <a:rPr lang="en-US" sz="2800" dirty="0"/>
              <a:t>SNHU Travel Project</a:t>
            </a:r>
            <a:br>
              <a:rPr lang="en-US" sz="2800" dirty="0"/>
            </a:br>
            <a:r>
              <a:rPr lang="en-US" sz="2800" dirty="0"/>
              <a:t>Christopher Mooers | CS 250</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115498" y="369394"/>
            <a:ext cx="2299877" cy="868435"/>
          </a:xfrm>
        </p:spPr>
        <p:txBody>
          <a:bodyPr>
            <a:normAutofit/>
          </a:bodyPr>
          <a:lstStyle/>
          <a:p>
            <a:r>
              <a:rPr lang="en-US" sz="3200" dirty="0"/>
              <a:t>AGENDA</a:t>
            </a: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
        <p:nvSpPr>
          <p:cNvPr id="6" name="Rectangle 2">
            <a:extLst>
              <a:ext uri="{FF2B5EF4-FFF2-40B4-BE49-F238E27FC236}">
                <a16:creationId xmlns:a16="http://schemas.microsoft.com/office/drawing/2014/main" id="{52B786E0-6F73-0088-2D12-B02014ADDB75}"/>
              </a:ext>
            </a:extLst>
          </p:cNvPr>
          <p:cNvSpPr>
            <a:spLocks noGrp="1" noChangeArrowheads="1"/>
          </p:cNvSpPr>
          <p:nvPr>
            <p:ph idx="1"/>
          </p:nvPr>
        </p:nvSpPr>
        <p:spPr bwMode="auto">
          <a:xfrm>
            <a:off x="506569" y="1855013"/>
            <a:ext cx="41138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FFFFFF"/>
                </a:solidFill>
                <a:effectLst/>
                <a:latin typeface="Arial" panose="020B0604020202020204" pitchFamily="34" charset="0"/>
              </a:rPr>
              <a:t>Why Communication Matters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FFFFFF"/>
                </a:solidFill>
                <a:effectLst/>
                <a:latin typeface="Arial" panose="020B0604020202020204" pitchFamily="34" charset="0"/>
              </a:rPr>
              <a:t>What Sc</a:t>
            </a:r>
            <a:r>
              <a:rPr lang="en-US" altLang="en-US" sz="2000" dirty="0">
                <a:solidFill>
                  <a:srgbClr val="FFFFFF"/>
                </a:solidFill>
                <a:latin typeface="Arial" panose="020B0604020202020204" pitchFamily="34" charset="0"/>
              </a:rPr>
              <a:t>rum-Agile Is</a:t>
            </a:r>
          </a:p>
          <a:p>
            <a:pPr marR="0" lvl="0" algn="l" defTabSz="914400" rtl="0" eaLnBrk="0" fontAlgn="base" latinLnBrk="0" hangingPunct="0">
              <a:lnSpc>
                <a:spcPct val="100000"/>
              </a:lnSpc>
              <a:spcBef>
                <a:spcPct val="0"/>
              </a:spcBef>
              <a:spcAft>
                <a:spcPct val="0"/>
              </a:spcAft>
              <a:buClrTx/>
              <a:buSzTx/>
              <a:tabLst/>
            </a:pPr>
            <a:endParaRPr lang="en-US" altLang="en-US" sz="2000" dirty="0">
              <a:solidFill>
                <a:srgbClr val="FFFFFF"/>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solidFill>
                  <a:srgbClr val="FFFFFF"/>
                </a:solidFill>
                <a:latin typeface="Arial" panose="020B0604020202020204" pitchFamily="34" charset="0"/>
              </a:rPr>
              <a:t>Key </a:t>
            </a:r>
            <a:r>
              <a:rPr kumimoji="0" lang="en-US" altLang="en-US" sz="2000" b="0" i="0" u="none" strike="noStrike" cap="none" normalizeH="0" baseline="0" dirty="0">
                <a:ln>
                  <a:noFill/>
                </a:ln>
                <a:solidFill>
                  <a:srgbClr val="FFFFFF"/>
                </a:solidFill>
                <a:effectLst/>
                <a:latin typeface="Arial" panose="020B0604020202020204" pitchFamily="34" charset="0"/>
              </a:rPr>
              <a:t>Scrum Roles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FFFFFF"/>
                </a:solidFill>
                <a:effectLst/>
                <a:latin typeface="Arial" panose="020B0604020202020204" pitchFamily="34" charset="0"/>
              </a:rPr>
              <a:t>Agile SDLC Phases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FFFFFF"/>
                </a:solidFill>
                <a:effectLst/>
                <a:latin typeface="Arial" panose="020B0604020202020204" pitchFamily="34" charset="0"/>
              </a:rPr>
              <a:t>Waterfall vs. Agile</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FFFFFF"/>
                </a:solidFill>
                <a:effectLst/>
                <a:latin typeface="Arial" panose="020B0604020202020204" pitchFamily="34" charset="0"/>
              </a:rPr>
              <a:t>Tools and Lessons Learned</a:t>
            </a:r>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329619" y="410658"/>
            <a:ext cx="5345043" cy="2064245"/>
          </a:xfrm>
        </p:spPr>
        <p:txBody>
          <a:bodyPr/>
          <a:lstStyle/>
          <a:p>
            <a:pPr algn="ctr"/>
            <a:r>
              <a:rPr lang="en-US" dirty="0"/>
              <a:t>Why Communication Matters in Agile</a:t>
            </a:r>
          </a:p>
        </p:txBody>
      </p:sp>
      <p:sp>
        <p:nvSpPr>
          <p:cNvPr id="4" name="TextBox 3">
            <a:extLst>
              <a:ext uri="{FF2B5EF4-FFF2-40B4-BE49-F238E27FC236}">
                <a16:creationId xmlns:a16="http://schemas.microsoft.com/office/drawing/2014/main" id="{4CF8DA15-5967-BB9F-3E89-95244741787C}"/>
              </a:ext>
            </a:extLst>
          </p:cNvPr>
          <p:cNvSpPr txBox="1"/>
          <p:nvPr/>
        </p:nvSpPr>
        <p:spPr>
          <a:xfrm>
            <a:off x="6816934" y="3142908"/>
            <a:ext cx="4857727"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Transparency prevents misunderstandings</a:t>
            </a:r>
          </a:p>
          <a:p>
            <a:endParaRPr lang="en-US" sz="2400" dirty="0"/>
          </a:p>
          <a:p>
            <a:pPr marL="285750" indent="-285750">
              <a:buFont typeface="Arial" panose="020B0604020202020204" pitchFamily="34" charset="0"/>
              <a:buChar char="•"/>
            </a:pPr>
            <a:r>
              <a:rPr lang="en-US" sz="2400" dirty="0"/>
              <a:t>Fast feedback reduces rework</a:t>
            </a:r>
          </a:p>
          <a:p>
            <a:endParaRPr lang="en-US" sz="2400" dirty="0"/>
          </a:p>
          <a:p>
            <a:pPr marL="285750" indent="-285750">
              <a:buFont typeface="Arial" panose="020B0604020202020204" pitchFamily="34" charset="0"/>
              <a:buChar char="•"/>
            </a:pPr>
            <a:r>
              <a:rPr lang="en-US" sz="2400" dirty="0"/>
              <a:t>Shared visibility keeps teams aligned</a:t>
            </a:r>
          </a:p>
        </p:txBody>
      </p:sp>
    </p:spTree>
    <p:extLst>
      <p:ext uri="{BB962C8B-B14F-4D97-AF65-F5344CB8AC3E}">
        <p14:creationId xmlns:p14="http://schemas.microsoft.com/office/powerpoint/2010/main" val="60879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5962763" y="406400"/>
            <a:ext cx="5672565" cy="1197907"/>
          </a:xfrm>
        </p:spPr>
        <p:txBody>
          <a:bodyPr/>
          <a:lstStyle/>
          <a:p>
            <a:r>
              <a:rPr lang="en-US" dirty="0"/>
              <a:t>What Is Scrum-Agile?</a:t>
            </a:r>
          </a:p>
        </p:txBody>
      </p:sp>
      <p:sp>
        <p:nvSpPr>
          <p:cNvPr id="3" name="TextBox 2">
            <a:extLst>
              <a:ext uri="{FF2B5EF4-FFF2-40B4-BE49-F238E27FC236}">
                <a16:creationId xmlns:a16="http://schemas.microsoft.com/office/drawing/2014/main" id="{AC7A440B-9E98-B686-6E9B-CC1F4C859ACD}"/>
              </a:ext>
            </a:extLst>
          </p:cNvPr>
          <p:cNvSpPr txBox="1"/>
          <p:nvPr/>
        </p:nvSpPr>
        <p:spPr>
          <a:xfrm>
            <a:off x="6170830" y="2146376"/>
            <a:ext cx="5360466"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FFFFFF"/>
                </a:solidFill>
              </a:rPr>
              <a:t>Iterative, sprint-based development</a:t>
            </a:r>
          </a:p>
          <a:p>
            <a:endParaRPr lang="en-US" sz="2400" dirty="0">
              <a:solidFill>
                <a:srgbClr val="FFFFFF"/>
              </a:solidFill>
            </a:endParaRPr>
          </a:p>
          <a:p>
            <a:pPr marL="285750" indent="-285750">
              <a:buFont typeface="Arial" panose="020B0604020202020204" pitchFamily="34" charset="0"/>
              <a:buChar char="•"/>
            </a:pPr>
            <a:r>
              <a:rPr lang="en-US" sz="2400" dirty="0">
                <a:solidFill>
                  <a:srgbClr val="FFFFFF"/>
                </a:solidFill>
              </a:rPr>
              <a:t>Emphasizes collaboration and adaptability</a:t>
            </a:r>
          </a:p>
          <a:p>
            <a:endParaRPr lang="en-US" sz="2400" dirty="0">
              <a:solidFill>
                <a:srgbClr val="FFFFFF"/>
              </a:solidFill>
            </a:endParaRPr>
          </a:p>
          <a:p>
            <a:pPr marL="285750" indent="-285750">
              <a:buFont typeface="Arial" panose="020B0604020202020204" pitchFamily="34" charset="0"/>
              <a:buChar char="•"/>
            </a:pPr>
            <a:r>
              <a:rPr lang="en-US" sz="2400" dirty="0">
                <a:solidFill>
                  <a:srgbClr val="FFFFFF"/>
                </a:solidFill>
              </a:rPr>
              <a:t>Focuses on delivering value early and often</a:t>
            </a:r>
          </a:p>
        </p:txBody>
      </p:sp>
    </p:spTree>
    <p:extLst>
      <p:ext uri="{BB962C8B-B14F-4D97-AF65-F5344CB8AC3E}">
        <p14:creationId xmlns:p14="http://schemas.microsoft.com/office/powerpoint/2010/main" val="334696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E5FEE2D-79E5-4C1D-8BF7-EE619CA7039A}"/>
              </a:ext>
            </a:extLst>
          </p:cNvPr>
          <p:cNvSpPr>
            <a:spLocks noGrp="1"/>
          </p:cNvSpPr>
          <p:nvPr>
            <p:ph type="title"/>
          </p:nvPr>
        </p:nvSpPr>
        <p:spPr>
          <a:xfrm>
            <a:off x="787400" y="280738"/>
            <a:ext cx="10515600" cy="648599"/>
          </a:xfrm>
        </p:spPr>
        <p:txBody>
          <a:bodyPr anchor="b"/>
          <a:lstStyle/>
          <a:p>
            <a:r>
              <a:rPr lang="en-US" dirty="0"/>
              <a:t>Scrum Team Roles</a:t>
            </a:r>
          </a:p>
        </p:txBody>
      </p:sp>
      <p:graphicFrame>
        <p:nvGraphicFramePr>
          <p:cNvPr id="13" name="Table Placeholder 2">
            <a:extLst>
              <a:ext uri="{FF2B5EF4-FFF2-40B4-BE49-F238E27FC236}">
                <a16:creationId xmlns:a16="http://schemas.microsoft.com/office/drawing/2014/main" id="{4A94C7BE-6E60-66F0-EFD4-2F452B0D743A}"/>
              </a:ext>
            </a:extLst>
          </p:cNvPr>
          <p:cNvGraphicFramePr>
            <a:graphicFrameLocks noGrp="1"/>
          </p:cNvGraphicFramePr>
          <p:nvPr>
            <p:ph type="tbl" sz="quarter" idx="14"/>
            <p:extLst>
              <p:ext uri="{D42A27DB-BD31-4B8C-83A1-F6EECF244321}">
                <p14:modId xmlns:p14="http://schemas.microsoft.com/office/powerpoint/2010/main" val="2410492016"/>
              </p:ext>
            </p:extLst>
          </p:nvPr>
        </p:nvGraphicFramePr>
        <p:xfrm>
          <a:off x="838200" y="1008743"/>
          <a:ext cx="10515600" cy="5115189"/>
        </p:xfrm>
        <a:graphic>
          <a:graphicData uri="http://schemas.openxmlformats.org/drawingml/2006/table">
            <a:tbl>
              <a:tblPr firstRow="1" bandRow="1">
                <a:tableStyleId>{7E9639D4-E3E2-4D34-9284-5A2195B3D0D7}</a:tableStyleId>
              </a:tblPr>
              <a:tblGrid>
                <a:gridCol w="2107592">
                  <a:extLst>
                    <a:ext uri="{9D8B030D-6E8A-4147-A177-3AD203B41FA5}">
                      <a16:colId xmlns:a16="http://schemas.microsoft.com/office/drawing/2014/main" val="127040821"/>
                    </a:ext>
                  </a:extLst>
                </a:gridCol>
                <a:gridCol w="8408008">
                  <a:extLst>
                    <a:ext uri="{9D8B030D-6E8A-4147-A177-3AD203B41FA5}">
                      <a16:colId xmlns:a16="http://schemas.microsoft.com/office/drawing/2014/main" val="3472639139"/>
                    </a:ext>
                  </a:extLst>
                </a:gridCol>
              </a:tblGrid>
              <a:tr h="884075">
                <a:tc>
                  <a:txBody>
                    <a:bodyPr/>
                    <a:lstStyle/>
                    <a:p>
                      <a:pPr algn="ctr"/>
                      <a:r>
                        <a:rPr lang="en-US" b="0" dirty="0"/>
                        <a:t>Scrum Role</a:t>
                      </a:r>
                    </a:p>
                  </a:txBody>
                  <a:tcPr anchor="ctr"/>
                </a:tc>
                <a:tc>
                  <a:txBody>
                    <a:bodyPr/>
                    <a:lstStyle/>
                    <a:p>
                      <a:pPr algn="ctr"/>
                      <a:r>
                        <a:rPr lang="en-US" b="0" dirty="0"/>
                        <a:t>Primary Responsibilities </a:t>
                      </a:r>
                    </a:p>
                  </a:txBody>
                  <a:tcPr anchor="ctr"/>
                </a:tc>
                <a:extLst>
                  <a:ext uri="{0D108BD9-81ED-4DB2-BD59-A6C34878D82A}">
                    <a16:rowId xmlns:a16="http://schemas.microsoft.com/office/drawing/2014/main" val="3298013591"/>
                  </a:ext>
                </a:extLst>
              </a:tr>
              <a:tr h="1277467">
                <a:tc>
                  <a:txBody>
                    <a:bodyPr/>
                    <a:lstStyle/>
                    <a:p>
                      <a:pPr algn="ctr"/>
                      <a:r>
                        <a:rPr lang="en-US" dirty="0"/>
                        <a:t>Scrum Master</a:t>
                      </a:r>
                    </a:p>
                  </a:txBody>
                  <a:tcPr anchor="ctr"/>
                </a:tc>
                <a:tc>
                  <a:txBody>
                    <a:bodyPr/>
                    <a:lstStyle/>
                    <a:p>
                      <a:pPr algn="l"/>
                      <a:r>
                        <a:rPr lang="en-US" dirty="0"/>
                        <a:t>Facilitates Scrum events, removes impediments, and ensures Agile principles are followed.</a:t>
                      </a:r>
                    </a:p>
                  </a:txBody>
                  <a:tcPr anchor="ctr"/>
                </a:tc>
                <a:extLst>
                  <a:ext uri="{0D108BD9-81ED-4DB2-BD59-A6C34878D82A}">
                    <a16:rowId xmlns:a16="http://schemas.microsoft.com/office/drawing/2014/main" val="3873867931"/>
                  </a:ext>
                </a:extLst>
              </a:tr>
              <a:tr h="984549">
                <a:tc>
                  <a:txBody>
                    <a:bodyPr/>
                    <a:lstStyle/>
                    <a:p>
                      <a:pPr algn="ctr"/>
                      <a:r>
                        <a:rPr lang="en-US" dirty="0"/>
                        <a:t>Product Owner</a:t>
                      </a:r>
                    </a:p>
                  </a:txBody>
                  <a:tcPr anchor="ctr"/>
                </a:tc>
                <a:tc>
                  <a:txBody>
                    <a:bodyPr/>
                    <a:lstStyle/>
                    <a:p>
                      <a:pPr algn="l"/>
                      <a:r>
                        <a:rPr lang="en-US" dirty="0"/>
                        <a:t>Owns and prioritizes the product backlog to maximize client and business value.</a:t>
                      </a:r>
                    </a:p>
                  </a:txBody>
                  <a:tcPr anchor="ctr"/>
                </a:tc>
                <a:extLst>
                  <a:ext uri="{0D108BD9-81ED-4DB2-BD59-A6C34878D82A}">
                    <a16:rowId xmlns:a16="http://schemas.microsoft.com/office/drawing/2014/main" val="85209771"/>
                  </a:ext>
                </a:extLst>
              </a:tr>
              <a:tr h="984549">
                <a:tc>
                  <a:txBody>
                    <a:bodyPr/>
                    <a:lstStyle/>
                    <a:p>
                      <a:pPr algn="ctr"/>
                      <a:r>
                        <a:rPr lang="en-US" dirty="0"/>
                        <a:t>Developer</a:t>
                      </a:r>
                    </a:p>
                  </a:txBody>
                  <a:tcPr anchor="ctr"/>
                </a:tc>
                <a:tc>
                  <a:txBody>
                    <a:bodyPr/>
                    <a:lstStyle/>
                    <a:p>
                      <a:pPr algn="l"/>
                      <a:r>
                        <a:rPr lang="en-US" dirty="0"/>
                        <a:t>Designs, builds, and delivers working product increments each sprint.</a:t>
                      </a:r>
                    </a:p>
                  </a:txBody>
                  <a:tcPr anchor="ctr"/>
                </a:tc>
                <a:extLst>
                  <a:ext uri="{0D108BD9-81ED-4DB2-BD59-A6C34878D82A}">
                    <a16:rowId xmlns:a16="http://schemas.microsoft.com/office/drawing/2014/main" val="4061031278"/>
                  </a:ext>
                </a:extLst>
              </a:tr>
              <a:tr h="984549">
                <a:tc>
                  <a:txBody>
                    <a:bodyPr/>
                    <a:lstStyle/>
                    <a:p>
                      <a:pPr algn="ctr"/>
                      <a:r>
                        <a:rPr lang="en-US" dirty="0"/>
                        <a:t>Tester</a:t>
                      </a:r>
                    </a:p>
                  </a:txBody>
                  <a:tcPr anchor="ctr"/>
                </a:tc>
                <a:tc>
                  <a:txBody>
                    <a:bodyPr/>
                    <a:lstStyle/>
                    <a:p>
                      <a:pPr algn="l"/>
                      <a:r>
                        <a:rPr lang="en-US" dirty="0"/>
                        <a:t>Verifies functionality and acceptance criteria to ensure product quality each sprint.</a:t>
                      </a:r>
                    </a:p>
                  </a:txBody>
                  <a:tcPr anchor="ctr"/>
                </a:tc>
                <a:extLst>
                  <a:ext uri="{0D108BD9-81ED-4DB2-BD59-A6C34878D82A}">
                    <a16:rowId xmlns:a16="http://schemas.microsoft.com/office/drawing/2014/main" val="3591840781"/>
                  </a:ext>
                </a:extLst>
              </a:tr>
            </a:tbl>
          </a:graphicData>
        </a:graphic>
      </p:graphicFrame>
      <p:sp>
        <p:nvSpPr>
          <p:cNvPr id="5" name="Slide Number Placeholder 5">
            <a:extLst>
              <a:ext uri="{FF2B5EF4-FFF2-40B4-BE49-F238E27FC236}">
                <a16:creationId xmlns:a16="http://schemas.microsoft.com/office/drawing/2014/main" id="{4832B776-E386-1CF9-CC8F-2D2FF3EA706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279182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252349"/>
            <a:ext cx="6229236" cy="1524735"/>
          </a:xfrm>
        </p:spPr>
        <p:txBody>
          <a:bodyPr/>
          <a:lstStyle/>
          <a:p>
            <a:r>
              <a:rPr lang="en-US" dirty="0"/>
              <a:t>Agile Phases in the SDLC</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402261" y="2975282"/>
            <a:ext cx="6280340" cy="2357806"/>
          </a:xfrm>
        </p:spPr>
        <p:txBody>
          <a:bodyPr>
            <a:noAutofit/>
          </a:bodyPr>
          <a:lstStyle/>
          <a:p>
            <a:pPr marL="285750" indent="-285750">
              <a:buFont typeface="Arial" panose="020B0604020202020204" pitchFamily="34" charset="0"/>
              <a:buChar char="•"/>
            </a:pPr>
            <a:r>
              <a:rPr lang="en-US" sz="2400" dirty="0"/>
              <a:t>Backlog refinement and planning</a:t>
            </a:r>
          </a:p>
          <a:p>
            <a:pPr marL="285750" indent="-285750">
              <a:buFont typeface="Arial" panose="020B0604020202020204" pitchFamily="34" charset="0"/>
              <a:buChar char="•"/>
            </a:pPr>
            <a:r>
              <a:rPr lang="en-US" sz="2400" dirty="0"/>
              <a:t>Development and testing within sprints</a:t>
            </a:r>
          </a:p>
          <a:p>
            <a:pPr marL="285750" indent="-285750">
              <a:buFont typeface="Arial" panose="020B0604020202020204" pitchFamily="34" charset="0"/>
              <a:buChar char="•"/>
            </a:pPr>
            <a:r>
              <a:rPr lang="en-US" sz="2400" dirty="0"/>
              <a:t>Sprint reviews and retrospectives</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196978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6C8C4-E919-361E-24B2-B1E0F2AABEE7}"/>
              </a:ext>
            </a:extLst>
          </p:cNvPr>
          <p:cNvSpPr>
            <a:spLocks noGrp="1"/>
          </p:cNvSpPr>
          <p:nvPr>
            <p:ph type="title"/>
          </p:nvPr>
        </p:nvSpPr>
        <p:spPr/>
        <p:txBody>
          <a:bodyPr>
            <a:normAutofit/>
          </a:bodyPr>
          <a:lstStyle/>
          <a:p>
            <a:pPr algn="ctr"/>
            <a:r>
              <a:rPr lang="en-US" sz="4400" dirty="0"/>
              <a:t>Waterfall vs Agile</a:t>
            </a:r>
          </a:p>
        </p:txBody>
      </p:sp>
      <p:sp>
        <p:nvSpPr>
          <p:cNvPr id="3" name="Text Placeholder 2">
            <a:extLst>
              <a:ext uri="{FF2B5EF4-FFF2-40B4-BE49-F238E27FC236}">
                <a16:creationId xmlns:a16="http://schemas.microsoft.com/office/drawing/2014/main" id="{39054F99-AD28-FADF-72E7-55C1F37D8EF4}"/>
              </a:ext>
            </a:extLst>
          </p:cNvPr>
          <p:cNvSpPr>
            <a:spLocks noGrp="1"/>
          </p:cNvSpPr>
          <p:nvPr>
            <p:ph type="body" idx="1"/>
          </p:nvPr>
        </p:nvSpPr>
        <p:spPr/>
        <p:txBody>
          <a:bodyPr/>
          <a:lstStyle/>
          <a:p>
            <a:r>
              <a:rPr lang="en-US" dirty="0"/>
              <a:t>Waterfall</a:t>
            </a:r>
          </a:p>
        </p:txBody>
      </p:sp>
      <p:sp>
        <p:nvSpPr>
          <p:cNvPr id="4" name="Content Placeholder 3">
            <a:extLst>
              <a:ext uri="{FF2B5EF4-FFF2-40B4-BE49-F238E27FC236}">
                <a16:creationId xmlns:a16="http://schemas.microsoft.com/office/drawing/2014/main" id="{07C26C30-6E78-C1AD-E358-D75EE53F67EB}"/>
              </a:ext>
            </a:extLst>
          </p:cNvPr>
          <p:cNvSpPr>
            <a:spLocks noGrp="1"/>
          </p:cNvSpPr>
          <p:nvPr>
            <p:ph sz="half" idx="13"/>
          </p:nvPr>
        </p:nvSpPr>
        <p:spPr>
          <a:xfrm>
            <a:off x="2933700" y="3526188"/>
            <a:ext cx="3943627" cy="2959671"/>
          </a:xfrm>
        </p:spPr>
        <p:txBody>
          <a:bodyPr/>
          <a:lstStyle/>
          <a:p>
            <a:pPr marL="285750" indent="-285750">
              <a:buFont typeface="Arial" panose="020B0604020202020204" pitchFamily="34" charset="0"/>
              <a:buChar char="•"/>
            </a:pPr>
            <a:r>
              <a:rPr lang="en-US" dirty="0"/>
              <a:t>Linear and rigid</a:t>
            </a:r>
          </a:p>
          <a:p>
            <a:endParaRPr lang="en-US" dirty="0"/>
          </a:p>
          <a:p>
            <a:pPr marL="285750" indent="-285750">
              <a:buFont typeface="Arial" panose="020B0604020202020204" pitchFamily="34" charset="0"/>
              <a:buChar char="•"/>
            </a:pPr>
            <a:r>
              <a:rPr lang="en-US" dirty="0"/>
              <a:t>Late feedback</a:t>
            </a:r>
          </a:p>
          <a:p>
            <a:endParaRPr lang="en-US" dirty="0"/>
          </a:p>
          <a:p>
            <a:pPr marL="285750" indent="-285750">
              <a:buFont typeface="Arial" panose="020B0604020202020204" pitchFamily="34" charset="0"/>
              <a:buChar char="•"/>
            </a:pPr>
            <a:r>
              <a:rPr lang="en-US" dirty="0"/>
              <a:t>High risk of rework</a:t>
            </a:r>
          </a:p>
        </p:txBody>
      </p:sp>
      <p:sp>
        <p:nvSpPr>
          <p:cNvPr id="5" name="Text Placeholder 4">
            <a:extLst>
              <a:ext uri="{FF2B5EF4-FFF2-40B4-BE49-F238E27FC236}">
                <a16:creationId xmlns:a16="http://schemas.microsoft.com/office/drawing/2014/main" id="{709388EA-B149-6B71-3B4D-E33D2B28C595}"/>
              </a:ext>
            </a:extLst>
          </p:cNvPr>
          <p:cNvSpPr>
            <a:spLocks noGrp="1"/>
          </p:cNvSpPr>
          <p:nvPr>
            <p:ph type="body" sz="quarter" idx="3"/>
          </p:nvPr>
        </p:nvSpPr>
        <p:spPr/>
        <p:txBody>
          <a:bodyPr/>
          <a:lstStyle/>
          <a:p>
            <a:r>
              <a:rPr lang="en-US" dirty="0"/>
              <a:t>Agile</a:t>
            </a:r>
          </a:p>
        </p:txBody>
      </p:sp>
      <p:sp>
        <p:nvSpPr>
          <p:cNvPr id="6" name="Content Placeholder 5">
            <a:extLst>
              <a:ext uri="{FF2B5EF4-FFF2-40B4-BE49-F238E27FC236}">
                <a16:creationId xmlns:a16="http://schemas.microsoft.com/office/drawing/2014/main" id="{C9680F76-DDF1-C260-4B53-306D18A5463F}"/>
              </a:ext>
            </a:extLst>
          </p:cNvPr>
          <p:cNvSpPr>
            <a:spLocks noGrp="1"/>
          </p:cNvSpPr>
          <p:nvPr>
            <p:ph sz="half" idx="14"/>
          </p:nvPr>
        </p:nvSpPr>
        <p:spPr>
          <a:xfrm>
            <a:off x="7410173" y="3526187"/>
            <a:ext cx="3943627" cy="2959671"/>
          </a:xfrm>
        </p:spPr>
        <p:txBody>
          <a:bodyPr/>
          <a:lstStyle/>
          <a:p>
            <a:pPr marL="285750" indent="-285750">
              <a:buFont typeface="Arial" panose="020B0604020202020204" pitchFamily="34" charset="0"/>
              <a:buChar char="•"/>
            </a:pPr>
            <a:r>
              <a:rPr lang="en-US" dirty="0"/>
              <a:t>Iterative and flexible</a:t>
            </a:r>
          </a:p>
          <a:p>
            <a:endParaRPr lang="en-US" dirty="0"/>
          </a:p>
          <a:p>
            <a:pPr marL="285750" indent="-285750">
              <a:buFont typeface="Arial" panose="020B0604020202020204" pitchFamily="34" charset="0"/>
              <a:buChar char="•"/>
            </a:pPr>
            <a:r>
              <a:rPr lang="en-US" dirty="0"/>
              <a:t>Continuous feedback</a:t>
            </a:r>
          </a:p>
          <a:p>
            <a:endParaRPr lang="en-US" dirty="0"/>
          </a:p>
          <a:p>
            <a:pPr marL="285750" indent="-285750">
              <a:buFont typeface="Arial" panose="020B0604020202020204" pitchFamily="34" charset="0"/>
              <a:buChar char="•"/>
            </a:pPr>
            <a:r>
              <a:rPr lang="en-US" dirty="0"/>
              <a:t>Reduced risk</a:t>
            </a:r>
          </a:p>
        </p:txBody>
      </p:sp>
      <p:sp>
        <p:nvSpPr>
          <p:cNvPr id="7" name="Slide Number Placeholder 6">
            <a:extLst>
              <a:ext uri="{FF2B5EF4-FFF2-40B4-BE49-F238E27FC236}">
                <a16:creationId xmlns:a16="http://schemas.microsoft.com/office/drawing/2014/main" id="{8E11690F-9E86-F680-B9B6-AFA935CC7C1D}"/>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362842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FF9B4-AF3C-07CE-3586-56331CB14904}"/>
              </a:ext>
            </a:extLst>
          </p:cNvPr>
          <p:cNvSpPr>
            <a:spLocks noGrp="1"/>
          </p:cNvSpPr>
          <p:nvPr>
            <p:ph type="title"/>
          </p:nvPr>
        </p:nvSpPr>
        <p:spPr>
          <a:xfrm>
            <a:off x="5068656" y="460513"/>
            <a:ext cx="6677314" cy="1204912"/>
          </a:xfrm>
        </p:spPr>
        <p:txBody>
          <a:bodyPr vert="horz" lIns="91440" tIns="45720" rIns="91440" bIns="45720" rtlCol="0" anchor="b">
            <a:normAutofit/>
          </a:bodyPr>
          <a:lstStyle/>
          <a:p>
            <a:r>
              <a:rPr lang="en-US" kern="1200" cap="all" spc="150" baseline="0" dirty="0">
                <a:latin typeface="+mj-lt"/>
                <a:ea typeface="+mj-ea"/>
                <a:cs typeface="+mj-cs"/>
              </a:rPr>
              <a:t>Agile Tools &amp; Lessons Learned</a:t>
            </a:r>
          </a:p>
        </p:txBody>
      </p:sp>
      <p:pic>
        <p:nvPicPr>
          <p:cNvPr id="7" name="Picture Placeholder 6" descr="A group of people with question mark in a circle&#10;&#10;AI-generated content may be incorrect.">
            <a:extLst>
              <a:ext uri="{FF2B5EF4-FFF2-40B4-BE49-F238E27FC236}">
                <a16:creationId xmlns:a16="http://schemas.microsoft.com/office/drawing/2014/main" id="{38E83D39-A656-4188-0D39-53B5AAF69D83}"/>
              </a:ext>
            </a:extLst>
          </p:cNvPr>
          <p:cNvPicPr>
            <a:picLocks noGrp="1" noChangeAspect="1"/>
          </p:cNvPicPr>
          <p:nvPr>
            <p:ph type="pic" sz="quarter" idx="13"/>
          </p:nvPr>
        </p:nvPicPr>
        <p:blipFill>
          <a:blip r:embed="rId3"/>
          <a:srcRect l="23200" r="23585"/>
          <a:stretch>
            <a:fillRect/>
          </a:stretch>
        </p:blipFill>
        <p:spPr>
          <a:xfrm>
            <a:off x="-28230" y="-9144"/>
            <a:ext cx="5481955" cy="6876288"/>
          </a:xfrm>
          <a:noFill/>
        </p:spPr>
      </p:pic>
      <p:sp>
        <p:nvSpPr>
          <p:cNvPr id="12" name="Slide Number Placeholder 3">
            <a:extLst>
              <a:ext uri="{FF2B5EF4-FFF2-40B4-BE49-F238E27FC236}">
                <a16:creationId xmlns:a16="http://schemas.microsoft.com/office/drawing/2014/main" id="{8B8D6E25-D05A-D8E3-DF1D-A1859BB899BC}"/>
              </a:ext>
            </a:extLst>
          </p:cNvPr>
          <p:cNvSpPr>
            <a:spLocks noGrp="1"/>
          </p:cNvSpPr>
          <p:nvPr>
            <p:ph type="sldNum" sz="quarter" idx="12"/>
          </p:nvPr>
        </p:nvSpPr>
        <p:spPr>
          <a:xfrm>
            <a:off x="10373350" y="6356349"/>
            <a:ext cx="987552" cy="365125"/>
          </a:xfrm>
        </p:spPr>
        <p:txBody>
          <a:bodyPr/>
          <a:lstStyle/>
          <a:p>
            <a:pPr>
              <a:spcAft>
                <a:spcPts val="600"/>
              </a:spcAft>
            </a:pPr>
            <a:fld id="{A49DFD55-3C28-40EF-9E31-A92D2E4017FF}" type="slidenum">
              <a:rPr lang="en-US" smtClean="0"/>
              <a:pPr>
                <a:spcAft>
                  <a:spcPts val="600"/>
                </a:spcAft>
              </a:pPr>
              <a:t>8</a:t>
            </a:fld>
            <a:endParaRPr lang="en-US"/>
          </a:p>
        </p:txBody>
      </p:sp>
      <p:sp>
        <p:nvSpPr>
          <p:cNvPr id="4" name="TextBox 3">
            <a:extLst>
              <a:ext uri="{FF2B5EF4-FFF2-40B4-BE49-F238E27FC236}">
                <a16:creationId xmlns:a16="http://schemas.microsoft.com/office/drawing/2014/main" id="{35DF25C9-3FF6-BF8D-89F5-CCB13DF12281}"/>
              </a:ext>
            </a:extLst>
          </p:cNvPr>
          <p:cNvSpPr txBox="1"/>
          <p:nvPr/>
        </p:nvSpPr>
        <p:spPr>
          <a:xfrm>
            <a:off x="5129118" y="2588928"/>
            <a:ext cx="6677314" cy="2536826"/>
          </a:xfrm>
          <a:prstGeom prst="rect">
            <a:avLst/>
          </a:prstGeom>
        </p:spPr>
        <p:txBody>
          <a:bodyPr vert="horz" lIns="91440" tIns="0" rIns="91440" bIns="45720" rtlCol="0">
            <a:noAutofit/>
          </a:bodyPr>
          <a:lstStyle/>
          <a:p>
            <a:pPr marL="285750" indent="-285750">
              <a:spcBef>
                <a:spcPts val="1000"/>
              </a:spcBef>
              <a:buFont typeface="Arial" panose="020B0604020202020204" pitchFamily="34" charset="0"/>
              <a:buChar char="•"/>
            </a:pPr>
            <a:r>
              <a:rPr lang="en-US" sz="2000" b="0" spc="50" dirty="0"/>
              <a:t>Tools improve visibility and team alignment</a:t>
            </a:r>
          </a:p>
          <a:p>
            <a:pPr>
              <a:spcBef>
                <a:spcPts val="1000"/>
              </a:spcBef>
            </a:pPr>
            <a:endParaRPr lang="en-US" sz="2000" b="0" spc="50" dirty="0"/>
          </a:p>
          <a:p>
            <a:pPr marL="285750" indent="-285750">
              <a:spcBef>
                <a:spcPts val="1000"/>
              </a:spcBef>
              <a:buFont typeface="Arial" panose="020B0604020202020204" pitchFamily="34" charset="0"/>
              <a:buChar char="•"/>
            </a:pPr>
            <a:r>
              <a:rPr lang="en-US" sz="2000" spc="50" dirty="0"/>
              <a:t>Faster identification of issues and blockers</a:t>
            </a:r>
          </a:p>
          <a:p>
            <a:pPr>
              <a:spcBef>
                <a:spcPts val="1000"/>
              </a:spcBef>
            </a:pPr>
            <a:endParaRPr lang="en-US" sz="2000" spc="50" dirty="0"/>
          </a:p>
          <a:p>
            <a:pPr marL="285750" indent="-285750">
              <a:spcBef>
                <a:spcPts val="1000"/>
              </a:spcBef>
              <a:buFont typeface="Arial" panose="020B0604020202020204" pitchFamily="34" charset="0"/>
              <a:buChar char="•"/>
            </a:pPr>
            <a:r>
              <a:rPr lang="en-US" sz="2000" b="0" spc="50" dirty="0"/>
              <a:t>Continuous improvement throughout retrospectives</a:t>
            </a:r>
          </a:p>
          <a:p>
            <a:pPr>
              <a:spcBef>
                <a:spcPts val="1000"/>
              </a:spcBef>
            </a:pPr>
            <a:endParaRPr lang="en-US" sz="2000" b="0" spc="50" dirty="0"/>
          </a:p>
          <a:p>
            <a:pPr marL="285750" indent="-285750">
              <a:spcBef>
                <a:spcPts val="1000"/>
              </a:spcBef>
              <a:buFont typeface="Arial" panose="020B0604020202020204" pitchFamily="34" charset="0"/>
              <a:buChar char="•"/>
            </a:pPr>
            <a:r>
              <a:rPr lang="en-US" sz="2000" b="0" spc="50" dirty="0"/>
              <a:t>Agile supports flexibility and better communication</a:t>
            </a:r>
          </a:p>
        </p:txBody>
      </p:sp>
    </p:spTree>
    <p:extLst>
      <p:ext uri="{BB962C8B-B14F-4D97-AF65-F5344CB8AC3E}">
        <p14:creationId xmlns:p14="http://schemas.microsoft.com/office/powerpoint/2010/main" val="2830554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A612-B676-9A6A-4C44-E2FAD8B4E0B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8B5A4D7-5FBF-E5B3-1530-56F741A9EB40}"/>
              </a:ext>
            </a:extLst>
          </p:cNvPr>
          <p:cNvSpPr>
            <a:spLocks noGrp="1"/>
          </p:cNvSpPr>
          <p:nvPr>
            <p:ph idx="1"/>
          </p:nvPr>
        </p:nvSpPr>
        <p:spPr>
          <a:xfrm>
            <a:off x="388757" y="3429000"/>
            <a:ext cx="4982659" cy="2514602"/>
          </a:xfrm>
        </p:spPr>
        <p:txBody>
          <a:bodyPr/>
          <a:lstStyle/>
          <a:p>
            <a:pPr marL="285750" indent="-285750">
              <a:buFont typeface="Arial" panose="020B0604020202020204" pitchFamily="34" charset="0"/>
              <a:buChar char="•"/>
            </a:pPr>
            <a:r>
              <a:rPr lang="fr-FR" dirty="0"/>
              <a:t>Scrum Guide (2020). </a:t>
            </a:r>
            <a:r>
              <a:rPr lang="fr-FR" i="1" dirty="0"/>
              <a:t>Scrum.org</a:t>
            </a:r>
          </a:p>
          <a:p>
            <a:pPr marL="285750" indent="-285750">
              <a:buFont typeface="Arial" panose="020B0604020202020204" pitchFamily="34" charset="0"/>
              <a:buChar char="•"/>
            </a:pPr>
            <a:r>
              <a:rPr lang="en-US" dirty="0"/>
              <a:t>Cobb, C. G. (2020). </a:t>
            </a:r>
            <a:r>
              <a:rPr lang="en-US" i="1" dirty="0"/>
              <a:t>The Project Manager’s Guide to Mastering Agile.</a:t>
            </a:r>
          </a:p>
          <a:p>
            <a:pPr marL="285750" indent="-285750">
              <a:buFont typeface="Arial" panose="020B0604020202020204" pitchFamily="34" charset="0"/>
              <a:buChar char="•"/>
            </a:pPr>
            <a:r>
              <a:rPr lang="en-US" dirty="0"/>
              <a:t>Atlassian. (n.d.). </a:t>
            </a:r>
            <a:r>
              <a:rPr lang="en-US" i="1" dirty="0"/>
              <a:t>Agile project management.</a:t>
            </a:r>
            <a:endParaRPr lang="en-US" dirty="0"/>
          </a:p>
        </p:txBody>
      </p:sp>
      <p:sp>
        <p:nvSpPr>
          <p:cNvPr id="4" name="Slide Number Placeholder 3">
            <a:extLst>
              <a:ext uri="{FF2B5EF4-FFF2-40B4-BE49-F238E27FC236}">
                <a16:creationId xmlns:a16="http://schemas.microsoft.com/office/drawing/2014/main" id="{5F92189B-2AA2-4472-3F1B-0E8679826C06}"/>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Tree>
    <p:extLst>
      <p:ext uri="{BB962C8B-B14F-4D97-AF65-F5344CB8AC3E}">
        <p14:creationId xmlns:p14="http://schemas.microsoft.com/office/powerpoint/2010/main" val="377300121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{20BA2E3C-EFF9-4E37-9E90-F5BAC4C5F8B4}TF7521aafa-c748-4c40-a498-ba511be234dc5b1b6097_win32-5039330bb2f3</Template>
  <TotalTime>86</TotalTime>
  <Words>1949</Words>
  <Application>Microsoft Office PowerPoint</Application>
  <PresentationFormat>Widescreen</PresentationFormat>
  <Paragraphs>143</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Tenorite</vt:lpstr>
      <vt:lpstr>Custom</vt:lpstr>
      <vt:lpstr>Scrum-Agile Retrospective &amp; Lessons Learned SNHU Travel Project Christopher Mooers | CS 250</vt:lpstr>
      <vt:lpstr>AGENDA</vt:lpstr>
      <vt:lpstr>Why Communication Matters in Agile</vt:lpstr>
      <vt:lpstr>What Is Scrum-Agile?</vt:lpstr>
      <vt:lpstr>Scrum Team Roles</vt:lpstr>
      <vt:lpstr>Agile Phases in the SDLC</vt:lpstr>
      <vt:lpstr>Waterfall vs Agile</vt:lpstr>
      <vt:lpstr>Agile Tools &amp; Lessons Learned</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Mooers</dc:creator>
  <cp:lastModifiedBy>Christopher Mooers</cp:lastModifiedBy>
  <cp:revision>1</cp:revision>
  <dcterms:created xsi:type="dcterms:W3CDTF">2025-12-09T21:10:05Z</dcterms:created>
  <dcterms:modified xsi:type="dcterms:W3CDTF">2025-12-11T06:45:20Z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